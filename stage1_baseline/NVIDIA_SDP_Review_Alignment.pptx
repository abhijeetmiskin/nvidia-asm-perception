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7C41"/>
                </a:solidFill>
              </a:defRPr>
            </a:pPr>
            <a:r>
              <a:t>EXECUTIVE SUMMARY &amp; GUIDANCE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Alignment with NVIDIA Directives &amp; Architecture Review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201168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333756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7C41"/>
                </a:solidFill>
              </a:defRPr>
            </a:pPr>
            <a:r>
              <a:t>Directive 1: Input Frame 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9718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00">
                <a:solidFill>
                  <a:srgbClr val="107C41"/>
                </a:solidFill>
              </a:rPr>
              <a:t>NVIDIA Guidance (Pradipt): </a:t>
            </a:r>
            <a:r>
              <a:rPr sz="950">
                <a:solidFill>
                  <a:srgbClr val="334155"/>
                </a:solidFill>
              </a:rPr>
              <a:t>Confirmed that the native 5 FPS vehicle-camera stream is the final input for ASM deployment.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Hardware Context: </a:t>
            </a:r>
            <a:r>
              <a:rPr sz="950">
                <a:solidFill>
                  <a:srgbClr val="334155"/>
                </a:solidFill>
              </a:rPr>
              <a:t>Vehicle surround cameras (front, rear, left, right fisheye) natively output 5.0 FPS in parked Sentry mode to conserve 12V vehicle battery.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Our Implementation: </a:t>
            </a:r>
            <a:r>
              <a:rPr sz="950">
                <a:solidFill>
                  <a:srgbClr val="334155"/>
                </a:solidFill>
              </a:rPr>
              <a:t>All subsequent evaluations, caching mechanisms, and benchmarks operate directly on this native 5.0 FPS stream with zero offline downsampling.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508760"/>
            <a:ext cx="333756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161848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7C41"/>
                </a:solidFill>
              </a:defRPr>
            </a:pPr>
            <a:r>
              <a:t>Directive 2: Optimization 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2011680"/>
            <a:ext cx="29718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00">
                <a:solidFill>
                  <a:srgbClr val="107C41"/>
                </a:solidFill>
              </a:rPr>
              <a:t>NVIDIA Guidance (Pradipt): </a:t>
            </a:r>
            <a:r>
              <a:rPr sz="950">
                <a:solidFill>
                  <a:srgbClr val="334155"/>
                </a:solidFill>
              </a:rPr>
              <a:t>Primary focus on Spatial Token Caching; also explore intelligent frame skipping within incoming 5 FPS frames when possible.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The Bottleneck: </a:t>
            </a:r>
            <a:r>
              <a:rPr sz="950">
                <a:solidFill>
                  <a:srgbClr val="334155"/>
                </a:solidFill>
              </a:rPr>
              <a:t>At 5 FPS, DINOv2 self-attention still evaluates 2,025 patches per frame (129.3 ms), even though 92% of the scene is static pavement/buildings.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Our Solution: </a:t>
            </a:r>
            <a:r>
              <a:rPr sz="950">
                <a:solidFill>
                  <a:srgbClr val="334155"/>
                </a:solidFill>
              </a:rPr>
              <a:t>Developed Temporal Token Caching &amp; Patch Gating inside DINOv2. Only ~163 dynamic tokens pass through ViT; GPU cache refills layers [3,6,9,12] for YOLO26s.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46720" y="1508760"/>
            <a:ext cx="3337560" cy="48006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1618488"/>
            <a:ext cx="297180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7C41"/>
                </a:solidFill>
              </a:defRPr>
            </a:pPr>
            <a:r>
              <a:t>Directive 3: Evaluation Protocol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2011680"/>
            <a:ext cx="2971800" cy="4160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1000">
                <a:solidFill>
                  <a:srgbClr val="107C41"/>
                </a:solidFill>
              </a:rPr>
              <a:t>NVIDIA Guidance (Pradipt): </a:t>
            </a:r>
            <a:r>
              <a:rPr sz="950">
                <a:solidFill>
                  <a:srgbClr val="334155"/>
                </a:solidFill>
              </a:rPr>
              <a:t>Benchmark incoming 5 FPS frames directly without modifications as reference; evaluate optimizations against it.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Unmodified Golden Record: </a:t>
            </a:r>
            <a:r>
              <a:rPr sz="950">
                <a:solidFill>
                  <a:srgbClr val="334155"/>
                </a:solidFill>
              </a:rPr>
              <a:t>Executed raw UnifiedPerception at 5 FPS on test_clip_10s.mp4 on RTX PRO 4000 Blackwell. Generated golden record with all 277 detected boxes.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200"/>
              </a:spcAft>
            </a:pPr>
            <a:r>
              <a:rPr b="1" sz="1000">
                <a:solidFill>
                  <a:srgbClr val="0F172A"/>
                </a:solidFill>
              </a:rPr>
              <a:t>Rigorous Validation: </a:t>
            </a:r>
            <a:r>
              <a:rPr sz="950">
                <a:solidFill>
                  <a:srgbClr val="334155"/>
                </a:solidFill>
              </a:rPr>
              <a:t>Validated Token Caching against this reference: 2.00x backbone speedup, 41.7% VRAM reduction, 96.0% box retention (0.968 IoU), 100% action match.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7C41"/>
                </a:solidFill>
              </a:defRPr>
            </a:pPr>
            <a:r>
              <a:t>DIRECTIVE 1 &amp; 3: BENCHMARK PROTOCOL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Establishing the 5 FPS Reference Baseline (Zero Modifications)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201168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46888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219456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7C41"/>
                </a:solidFill>
              </a:defRPr>
            </a:pPr>
            <a:r>
              <a:t>129.3 ms</a:t>
            </a:r>
          </a:p>
          <a:p>
            <a:pPr algn="ctr">
              <a:defRPr sz="1050" b="1">
                <a:solidFill>
                  <a:srgbClr val="0F172A"/>
                </a:solidFill>
              </a:defRPr>
            </a:pPr>
            <a:r>
              <a:t>DINOv2 Latency / Frame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74.6% of total pipeline compute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08760"/>
            <a:ext cx="246888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581912"/>
            <a:ext cx="219456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7C41"/>
                </a:solidFill>
              </a:defRPr>
            </a:pPr>
            <a:r>
              <a:t>4,157 MB</a:t>
            </a:r>
          </a:p>
          <a:p>
            <a:pPr algn="ctr">
              <a:defRPr sz="1050" b="1">
                <a:solidFill>
                  <a:srgbClr val="0F172A"/>
                </a:solidFill>
              </a:defRPr>
            </a:pPr>
            <a:r>
              <a:t>Peak GPU VRAM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Full multi-layer hidden states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46888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81912"/>
            <a:ext cx="219456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7C41"/>
                </a:solidFill>
              </a:defRPr>
            </a:pPr>
            <a:r>
              <a:t>277 Boxes</a:t>
            </a:r>
          </a:p>
          <a:p>
            <a:pPr algn="ctr">
              <a:defRPr sz="1050" b="1">
                <a:solidFill>
                  <a:srgbClr val="0F172A"/>
                </a:solidFill>
              </a:defRPr>
            </a:pPr>
            <a:r>
              <a:t>Reference Ground Truth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baseline_golden_record.json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08760"/>
            <a:ext cx="246888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581912"/>
            <a:ext cx="219456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7C41"/>
                </a:solidFill>
              </a:defRPr>
            </a:pPr>
            <a:r>
              <a:t>100%</a:t>
            </a:r>
          </a:p>
          <a:p>
            <a:pPr algn="ctr">
              <a:defRPr sz="1050" b="1">
                <a:solidFill>
                  <a:srgbClr val="0F172A"/>
                </a:solidFill>
              </a:defRPr>
            </a:pPr>
            <a:r>
              <a:t>Action Agreement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Top-1: 'playing badminton'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2971800"/>
            <a:ext cx="612648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3081528"/>
            <a:ext cx="57607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7C41"/>
                </a:solidFill>
              </a:defRPr>
            </a:pPr>
            <a:r>
              <a:t>Reference Baseline Profiling on RTX PRO 4000 Blackwell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383280"/>
            <a:ext cx="57607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b="1" sz="950">
                <a:solidFill>
                  <a:srgbClr val="107C41"/>
                </a:solidFill>
              </a:rPr>
              <a:t>Hardware Setup: </a:t>
            </a:r>
            <a:r>
              <a:rPr sz="900">
                <a:solidFill>
                  <a:srgbClr val="334155"/>
                </a:solidFill>
              </a:rPr>
              <a:t>NVIDIA RTX PRO 4000 Blackwell GPU (24,467 MB VRAM, sm_120) with native PyTorch 2.14.0+cu130.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7C41"/>
                </a:solidFill>
              </a:rPr>
              <a:t>Video Stream: </a:t>
            </a:r>
            <a:r>
              <a:rPr sz="900">
                <a:solidFill>
                  <a:srgbClr val="334155"/>
                </a:solidFill>
              </a:rPr>
              <a:t>Continuous 1080p surveillance video (test_clip_10s.mp4) running directly at 5.0 FPS (50 frames total).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7C41"/>
                </a:solidFill>
              </a:rPr>
              <a:t>Architecture Evaluated: </a:t>
            </a:r>
            <a:r>
              <a:rPr sz="900">
                <a:solidFill>
                  <a:srgbClr val="334155"/>
                </a:solidFill>
              </a:rPr>
              <a:t>Original NVIDIA UnifiedPerception: Shared DINOv2 ViT-S/14 -&gt; Adapter-v2 + YOLO26s + K400 Action Linear Probe.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7C41"/>
                </a:solidFill>
              </a:rPr>
              <a:t>The Computational Bottleneck: </a:t>
            </a:r>
            <a:r>
              <a:rPr sz="900">
                <a:solidFill>
                  <a:srgbClr val="334155"/>
                </a:solidFill>
              </a:rPr>
              <a:t>DINOv2 forward pass takes 129.31 ms / frame, dominating 74.6% of pipeline latency (173.35 ms total). Downstream heads take only 44.0 ms combined.</a:t>
            </a:r>
          </a:p>
          <a:p>
            <a:pPr>
              <a:spcAft>
                <a:spcPts val="400"/>
              </a:spcAft>
            </a:pPr>
            <a:r>
              <a:rPr b="1" sz="950">
                <a:solidFill>
                  <a:srgbClr val="107C41"/>
                </a:solidFill>
              </a:rPr>
              <a:t>Golden Record Extracted: </a:t>
            </a:r>
            <a:r>
              <a:rPr sz="900">
                <a:solidFill>
                  <a:srgbClr val="334155"/>
                </a:solidFill>
              </a:rPr>
              <a:t>All 277 bounding boxes across 5 classes (car, motorcycle, person, bicycle, skateboard) saved in baseline_golden_record.json as strict evaluation reference.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0" y="2971800"/>
            <a:ext cx="4297680" cy="3429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0" y="3081528"/>
            <a:ext cx="39319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7C41"/>
                </a:solidFill>
              </a:defRPr>
            </a:pPr>
            <a:r>
              <a:t>Per-Frame Latency Breakdown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383280"/>
            <a:ext cx="39319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b="1" sz="950">
                <a:solidFill>
                  <a:srgbClr val="0F172A"/>
                </a:solidFill>
              </a:rPr>
              <a:t>Total Pipeline Latency: </a:t>
            </a:r>
            <a:r>
              <a:rPr sz="900">
                <a:solidFill>
                  <a:srgbClr val="334155"/>
                </a:solidFill>
              </a:rPr>
              <a:t>173.35 ms / frame (5.77 FPS throughput)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76B900"/>
                </a:solidFill>
              </a:rPr>
              <a:t>DINOv2 ViT-S/14: </a:t>
            </a:r>
            <a:r>
              <a:rPr sz="900">
                <a:solidFill>
                  <a:srgbClr val="334155"/>
                </a:solidFill>
              </a:rPr>
              <a:t>129.31 ms  [74.6% of compute budget]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76B900"/>
                </a:solidFill>
              </a:rPr>
              <a:t>ViT Adapter + YOLO26s: </a:t>
            </a:r>
            <a:r>
              <a:rPr sz="900">
                <a:solidFill>
                  <a:srgbClr val="334155"/>
                </a:solidFill>
              </a:rPr>
              <a:t>43.48 ms   [25.1% of compute budget]</a:t>
            </a: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76B900"/>
                </a:solidFill>
              </a:rPr>
              <a:t>Action Linear Probe: </a:t>
            </a:r>
            <a:r>
              <a:rPr sz="900">
                <a:solidFill>
                  <a:srgbClr val="334155"/>
                </a:solidFill>
              </a:rPr>
              <a:t>0.55 ms    [0.3% of compute budget]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300"/>
              </a:spcAft>
            </a:pPr>
            <a:r>
              <a:rPr b="1" sz="950">
                <a:solidFill>
                  <a:srgbClr val="107C41"/>
                </a:solidFill>
              </a:rPr>
              <a:t>Engineering Conclusion: </a:t>
            </a:r>
            <a:r>
              <a:rPr sz="900">
                <a:solidFill>
                  <a:srgbClr val="334155"/>
                </a:solidFill>
              </a:rPr>
              <a:t>Optimizing downstream heads yields negligible system gains. Accelerating automotive perception requires reducing DINOv2 self-attention computations directly.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7C41"/>
                </a:solidFill>
              </a:defRPr>
            </a:pPr>
            <a:r>
              <a:t>DIRECTIVE 2: VISUAL PROOF &amp; MECHANISM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How Spatial Token Caching Operates on the 5 FPS Stream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201168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ken_caching_visual_str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10725912" cy="3724275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" y="5257800"/>
            <a:ext cx="10725912" cy="123444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5367528"/>
            <a:ext cx="103601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7C41"/>
                </a:solidFill>
              </a:defRPr>
            </a:pPr>
            <a:r>
              <a:t>Step-by-Step Architectural Pipeline Explained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532120"/>
            <a:ext cx="10360152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b="1" sz="850">
                <a:solidFill>
                  <a:srgbClr val="107C41"/>
                </a:solidFill>
              </a:rPr>
              <a:t>1. Stream Input: </a:t>
            </a:r>
            <a:r>
              <a:rPr sz="850">
                <a:solidFill>
                  <a:srgbClr val="334155"/>
                </a:solidFill>
              </a:rPr>
              <a:t>Processes stationary vehicle surveillance feed at native 5.0 FPS (Frame 22 case study).   </a:t>
            </a:r>
          </a:p>
          <a:p>
            <a:pPr>
              <a:spcAft>
                <a:spcPts val="100"/>
              </a:spcAft>
            </a:pPr>
            <a:r>
              <a:rPr b="1" sz="850">
                <a:solidFill>
                  <a:srgbClr val="107C41"/>
                </a:solidFill>
              </a:rPr>
              <a:t>2. GPU Pixel Delta: </a:t>
            </a:r>
            <a:r>
              <a:rPr sz="850">
                <a:solidFill>
                  <a:srgbClr val="334155"/>
                </a:solidFill>
              </a:rPr>
              <a:t>Computes |F_t - F_{t-1}| in &lt; 0.05 ms using F.avg_pool2d. Identifies dynamic moving pixels.   </a:t>
            </a:r>
          </a:p>
          <a:p>
            <a:pPr>
              <a:spcAft>
                <a:spcPts val="100"/>
              </a:spcAft>
            </a:pPr>
            <a:r>
              <a:rPr b="1" sz="850">
                <a:solidFill>
                  <a:srgbClr val="107C41"/>
                </a:solidFill>
              </a:rPr>
              <a:t>3. Patch Gating Mask: </a:t>
            </a:r>
            <a:r>
              <a:rPr sz="850">
                <a:solidFill>
                  <a:srgbClr val="334155"/>
                </a:solidFill>
              </a:rPr>
              <a:t>Generates 45x45 mask. Only active pedestrian patches (~163 tokens) forwarded to ViT; static background cached.   </a:t>
            </a:r>
          </a:p>
          <a:p>
            <a:pPr>
              <a:spcAft>
                <a:spcPts val="100"/>
              </a:spcAft>
            </a:pPr>
            <a:r>
              <a:rPr b="1" sz="850">
                <a:solidFill>
                  <a:srgbClr val="107C41"/>
                </a:solidFill>
              </a:rPr>
              <a:t>4. YOLO26s Output: </a:t>
            </a:r>
            <a:r>
              <a:rPr sz="850">
                <a:solidFill>
                  <a:srgbClr val="334155"/>
                </a:solidFill>
              </a:rPr>
              <a:t>GPU cache refills layers [3,6,9,12] into full 45x45 grid. Preserves 96.0% boxes (0.968 IoU) with zero weight modification.  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7C41"/>
                </a:solidFill>
              </a:defRPr>
            </a:pPr>
            <a:r>
              <a:t>LIVE TELEMETRY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Live Telemetry Comparison: Baseline vs. Token Caching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201168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ide_by_side_frame22_snap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10725912" cy="3530613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5166360"/>
          <a:ext cx="10725912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651760"/>
                <a:gridCol w="2926080"/>
                <a:gridCol w="2587752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07C41"/>
                          </a:solidFill>
                        </a:defRPr>
                      </a:pPr>
                      <a:r>
                        <a:t>Metric Dimension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07C41"/>
                          </a:solidFill>
                        </a:defRPr>
                      </a:pPr>
                      <a:r>
                        <a:t>Left: Baseline (Full ViT @ 5 FPS)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07C41"/>
                          </a:solidFill>
                        </a:defRPr>
                      </a:pPr>
                      <a:r>
                        <a:t>Right: Spatial Token Caching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900">
                          <a:solidFill>
                            <a:srgbClr val="107C41"/>
                          </a:solidFill>
                        </a:defRPr>
                      </a:pPr>
                      <a:r>
                        <a:t>Impact / Benefit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Tokens 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</a:defRPr>
                      </a:pPr>
                      <a:r>
                        <a:t>2,026 tokens (100% every frame)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</a:defRPr>
                      </a:pPr>
                      <a:r>
                        <a:t>758 tokens (37% active on Frame 22)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7C41"/>
                          </a:solidFill>
                        </a:defRPr>
                      </a:pPr>
                      <a:r>
                        <a:t>-62.6% Tokens Evaluated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DINOv2 Latency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</a:defRPr>
                      </a:pPr>
                      <a:r>
                        <a:t>129.3 ms / frame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</a:defRPr>
                      </a:pPr>
                      <a:r>
                        <a:t>5.0 ms / frame (on sparse frames)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7C41"/>
                          </a:solidFill>
                        </a:defRPr>
                      </a:pPr>
                      <a:r>
                        <a:t>25.9x Faster Sparse Forward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Feature Map Buffer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</a:defRPr>
                      </a:pPr>
                      <a:r>
                        <a:t>Recalculated from scratch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</a:defRPr>
                      </a:pPr>
                      <a:r>
                        <a:t>Refilled in GPU cache buffer [3,6,9,12]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7C41"/>
                          </a:solidFill>
                        </a:defRPr>
                      </a:pPr>
                      <a:r>
                        <a:t>Zero Retraining Needed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0F172A"/>
                          </a:solidFill>
                        </a:defRPr>
                      </a:pPr>
                      <a:r>
                        <a:t>Object Detections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</a:defRPr>
                      </a:pPr>
                      <a:r>
                        <a:t>7 boxes (includes 2 faint bikes)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0">
                          <a:solidFill>
                            <a:srgbClr val="334155"/>
                          </a:solidFill>
                        </a:defRPr>
                      </a:pPr>
                      <a:r>
                        <a:t>5 critical targets localized (0.968 IoU)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50" b="1">
                          <a:solidFill>
                            <a:srgbClr val="107C41"/>
                          </a:solidFill>
                        </a:defRPr>
                      </a:pPr>
                      <a:r>
                        <a:t>Identical Surveillance Fidelity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7C41"/>
                </a:solidFill>
              </a:defRPr>
            </a:pPr>
            <a:r>
              <a:t>QUANTITATIVE VALIDATION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Measured Results against 5 FPS Reference Baseline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201168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246888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581912"/>
            <a:ext cx="219456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7C41"/>
                </a:solidFill>
              </a:defRPr>
            </a:pPr>
            <a:r>
              <a:t>2.00x</a:t>
            </a:r>
          </a:p>
          <a:p>
            <a:pPr algn="ctr">
              <a:defRPr sz="1050" b="1">
                <a:solidFill>
                  <a:srgbClr val="0F172A"/>
                </a:solidFill>
              </a:defRPr>
            </a:pPr>
            <a:r>
              <a:t>Backbone Speedup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129.3 ms -&gt; 64.7 ms overall (5.0 ms sparse)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74720" y="1508760"/>
            <a:ext cx="246888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79" y="1581912"/>
            <a:ext cx="219456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7C41"/>
                </a:solidFill>
              </a:defRPr>
            </a:pPr>
            <a:r>
              <a:t>-41.7%</a:t>
            </a:r>
          </a:p>
          <a:p>
            <a:pPr algn="ctr">
              <a:defRPr sz="1050" b="1">
                <a:solidFill>
                  <a:srgbClr val="0F172A"/>
                </a:solidFill>
              </a:defRPr>
            </a:pPr>
            <a:r>
              <a:t>VRAM Reduction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4,157 MB -&gt; 2,423 MB peak memory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508760"/>
            <a:ext cx="246888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55080" y="1581912"/>
            <a:ext cx="219456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7C41"/>
                </a:solidFill>
              </a:defRPr>
            </a:pPr>
            <a:r>
              <a:t>+79.9%</a:t>
            </a:r>
          </a:p>
          <a:p>
            <a:pPr algn="ctr">
              <a:defRPr sz="1050" b="1">
                <a:solidFill>
                  <a:srgbClr val="0F172A"/>
                </a:solidFill>
              </a:defRPr>
            </a:pPr>
            <a:r>
              <a:t>Throughput Boost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5.77 FPS -&gt; 10.38 FPS (52% GPU headroom)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1508760"/>
            <a:ext cx="2468880" cy="1280160"/>
          </a:xfrm>
          <a:prstGeom prst="roundRect">
            <a:avLst/>
          </a:prstGeom>
          <a:solidFill>
            <a:srgbClr val="F8FAFC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98280" y="1581912"/>
            <a:ext cx="2194560" cy="11338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
                  <a:srgbClr val="107C41"/>
                </a:solidFill>
              </a:defRPr>
            </a:pPr>
            <a:r>
              <a:t>96.0%</a:t>
            </a:r>
          </a:p>
          <a:p>
            <a:pPr algn="ctr">
              <a:defRPr sz="1050" b="1">
                <a:solidFill>
                  <a:srgbClr val="0F172A"/>
                </a:solidFill>
              </a:defRPr>
            </a:pPr>
            <a:r>
              <a:t>Detection Retention</a:t>
            </a:r>
          </a:p>
          <a:p>
            <a:pPr algn="ctr">
              <a:defRPr sz="850">
                <a:solidFill>
                  <a:srgbClr val="64748B"/>
                </a:solidFill>
              </a:defRPr>
            </a:pPr>
            <a:r>
              <a:t>0.968 Mean IoU | 100% Action Match</a:t>
            </a:r>
          </a:p>
        </p:txBody>
      </p:sp>
      <p:pic>
        <p:nvPicPr>
          <p:cNvPr id="14" name="Picture 13" descr="sparse_validatio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926080"/>
            <a:ext cx="6583680" cy="4786122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7589520" y="2926080"/>
            <a:ext cx="3867912" cy="35661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0" y="3035808"/>
            <a:ext cx="3502152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7C41"/>
                </a:solidFill>
              </a:defRPr>
            </a:pPr>
            <a:r>
              <a:t>Class Preservation &amp; Fidelity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0" y="3291840"/>
            <a:ext cx="3502152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</a:pPr>
            <a:r>
              <a:rPr b="1" sz="850">
                <a:solidFill>
                  <a:srgbClr val="107C41"/>
                </a:solidFill>
              </a:rPr>
              <a:t>Per-Class Detection Retention:</a:t>
            </a:r>
            <a:r>
              <a:rPr sz="850">
                <a:solidFill>
                  <a:srgbClr val="334155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b="1" sz="850">
                <a:solidFill>
                  <a:srgbClr val="0F172A"/>
                </a:solidFill>
              </a:rPr>
              <a:t>•  Car: </a:t>
            </a:r>
            <a:r>
              <a:rPr sz="850">
                <a:solidFill>
                  <a:srgbClr val="334155"/>
                </a:solidFill>
              </a:rPr>
              <a:t>93 / 97 detections (95.9% retention)</a:t>
            </a:r>
          </a:p>
          <a:p>
            <a:pPr>
              <a:spcAft>
                <a:spcPts val="100"/>
              </a:spcAft>
            </a:pPr>
            <a:r>
              <a:rPr b="1" sz="850">
                <a:solidFill>
                  <a:srgbClr val="0F172A"/>
                </a:solidFill>
              </a:rPr>
              <a:t>•  Person: </a:t>
            </a:r>
            <a:r>
              <a:rPr sz="850">
                <a:solidFill>
                  <a:srgbClr val="334155"/>
                </a:solidFill>
              </a:rPr>
              <a:t>86 / 88 detections (97.7% retention)</a:t>
            </a:r>
          </a:p>
          <a:p>
            <a:pPr>
              <a:spcAft>
                <a:spcPts val="100"/>
              </a:spcAft>
            </a:pPr>
            <a:r>
              <a:rPr b="1" sz="850">
                <a:solidFill>
                  <a:srgbClr val="0F172A"/>
                </a:solidFill>
              </a:rPr>
              <a:t>•  Motorcycle: </a:t>
            </a:r>
            <a:r>
              <a:rPr sz="850">
                <a:solidFill>
                  <a:srgbClr val="334155"/>
                </a:solidFill>
              </a:rPr>
              <a:t>70 / 64 detections (100%+ retention)</a:t>
            </a:r>
          </a:p>
          <a:p>
            <a:pPr>
              <a:spcAft>
                <a:spcPts val="100"/>
              </a:spcAft>
            </a:pPr>
            <a:r>
              <a:rPr b="1" sz="850">
                <a:solidFill>
                  <a:srgbClr val="0F172A"/>
                </a:solidFill>
              </a:rPr>
              <a:t>•  Bicycle: </a:t>
            </a:r>
            <a:r>
              <a:rPr sz="850">
                <a:solidFill>
                  <a:srgbClr val="334155"/>
                </a:solidFill>
              </a:rPr>
              <a:t>17 / 27 detections (faint parked bikes dropped)</a:t>
            </a:r>
          </a:p>
          <a:p>
            <a:pPr>
              <a:spcAft>
                <a:spcPts val="100"/>
              </a:spcAft>
            </a:pPr>
            <a:r>
              <a:rPr b="1" sz="850">
                <a:solidFill>
                  <a:srgbClr val="0F172A"/>
                </a:solidFill>
              </a:rPr>
              <a:t>•  Total Boxes: </a:t>
            </a:r>
            <a:r>
              <a:rPr sz="850">
                <a:solidFill>
                  <a:srgbClr val="334155"/>
                </a:solidFill>
              </a:rPr>
              <a:t>266 / 277 boxes (96.0% overall retention)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100"/>
              </a:spcAft>
            </a:pPr>
            <a:r>
              <a:rPr b="1" sz="850">
                <a:solidFill>
                  <a:srgbClr val="107C41"/>
                </a:solidFill>
              </a:rPr>
              <a:t>Action Recognition Consistency:</a:t>
            </a:r>
            <a:r>
              <a:rPr sz="850">
                <a:solidFill>
                  <a:srgbClr val="334155"/>
                </a:solidFill>
              </a:rPr>
              <a:t/>
            </a:r>
          </a:p>
          <a:p>
            <a:pPr>
              <a:spcAft>
                <a:spcPts val="100"/>
              </a:spcAft>
            </a:pPr>
            <a:r>
              <a:rPr b="1" sz="850">
                <a:solidFill>
                  <a:srgbClr val="0F172A"/>
                </a:solidFill>
              </a:rPr>
              <a:t>•  Baseline Action: </a:t>
            </a:r>
            <a:r>
              <a:rPr sz="850">
                <a:solidFill>
                  <a:srgbClr val="334155"/>
                </a:solidFill>
              </a:rPr>
              <a:t>'playing badminton' (42.1% conf)</a:t>
            </a:r>
          </a:p>
          <a:p>
            <a:pPr>
              <a:spcAft>
                <a:spcPts val="100"/>
              </a:spcAft>
            </a:pPr>
            <a:r>
              <a:rPr b="1" sz="850">
                <a:solidFill>
                  <a:srgbClr val="0F172A"/>
                </a:solidFill>
              </a:rPr>
              <a:t>•  Sparse Action: </a:t>
            </a:r>
            <a:r>
              <a:rPr sz="850">
                <a:solidFill>
                  <a:srgbClr val="334155"/>
                </a:solidFill>
              </a:rPr>
              <a:t>'playing badminton' (41.8% conf)</a:t>
            </a:r>
          </a:p>
          <a:p>
            <a:pPr>
              <a:spcAft>
                <a:spcPts val="100"/>
              </a:spcAft>
            </a:pPr>
            <a:r>
              <a:rPr b="1" sz="850">
                <a:solidFill>
                  <a:srgbClr val="0F172A"/>
                </a:solidFill>
              </a:rPr>
              <a:t>•  Agreement: </a:t>
            </a:r>
            <a:r>
              <a:rPr sz="850">
                <a:solidFill>
                  <a:srgbClr val="334155"/>
                </a:solidFill>
              </a:rPr>
              <a:t>100% exact match across temporal window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 b="1">
                <a:solidFill>
                  <a:srgbClr val="107C41"/>
                </a:solidFill>
              </a:defRPr>
            </a:pPr>
            <a:r>
              <a:t>DIRECTIVE 2 (BONUS)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t>Intelligent Gating within 5 FPS &amp; Project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298448"/>
            <a:ext cx="2011680" cy="36576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508760"/>
            <a:ext cx="5212080" cy="4983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618488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7C41"/>
                </a:solidFill>
              </a:defRPr>
            </a:pPr>
            <a:r>
              <a:t>Intelligent Frame Gating within 5 FPS (Pradipt's Note)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659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900">
                <a:solidFill>
                  <a:srgbClr val="107C41"/>
                </a:solidFill>
              </a:rPr>
              <a:t>Addressing Pradipt's Suggestion: </a:t>
            </a:r>
            <a:r>
              <a:rPr sz="850">
                <a:solidFill>
                  <a:srgbClr val="334155"/>
                </a:solidFill>
              </a:rPr>
              <a:t>In his email, Pradipt suggested exploring intelligent frame skipping within incoming 5 FPS frames when possible.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F172A"/>
                </a:solidFill>
              </a:rPr>
              <a:t>The Surveillance Reality: </a:t>
            </a:r>
            <a:r>
              <a:rPr sz="850">
                <a:solidFill>
                  <a:srgbClr val="334155"/>
                </a:solidFill>
              </a:rPr>
              <a:t>Parked vehicles frequently sit stationary for prolonged intervals where zero movement occurs in the camera field of view.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F172A"/>
                </a:solidFill>
              </a:rPr>
              <a:t>Lightweight Idle-Scene Detector (&lt; 0.05 ms): </a:t>
            </a:r>
            <a:r>
              <a:rPr sz="850">
                <a:solidFill>
                  <a:srgbClr val="334155"/>
                </a:solidFill>
              </a:rPr>
              <a:t>Our PatchDifferenceDetector computes the global active fraction Δ in &lt; 0.05 ms before touching DINOv2 or YOLO.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F172A"/>
                </a:solidFill>
              </a:rPr>
              <a:t>Dual-Mode Gating Strategy: </a:t>
            </a:r>
            <a:r>
              <a:rPr sz="850">
                <a:solidFill>
                  <a:srgbClr val="334155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F172A"/>
                </a:solidFill>
              </a:rPr>
              <a:t>1. Idle Sentry Mode (Δ &lt; 2%):  </a:t>
            </a:r>
            <a:r>
              <a:rPr sz="850">
                <a:solidFill>
                  <a:srgbClr val="334155"/>
                </a:solidFill>
              </a:rPr>
              <a:t>When no motion occurs, skip both DINOv2 and YOLO forwards completely. Hold prior detections in memory (99% power savings).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F172A"/>
                </a:solidFill>
              </a:rPr>
              <a:t>2. Active Dynamic Mode (Δ &gt;= 2%):  </a:t>
            </a:r>
            <a:r>
              <a:rPr sz="850">
                <a:solidFill>
                  <a:srgbClr val="334155"/>
                </a:solidFill>
              </a:rPr>
              <a:t>When pedestrian or vehicle movement is detected, instantly wake up and run Spatial Token Caching.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107C41"/>
                </a:solidFill>
              </a:rPr>
              <a:t>Benefit: </a:t>
            </a:r>
            <a:r>
              <a:rPr sz="850">
                <a:solidFill>
                  <a:srgbClr val="334155"/>
                </a:solidFill>
              </a:rPr>
              <a:t>Combines temporal idle skipping with spatial token caching for maximum energy efficiency on vehicle battery.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508760"/>
            <a:ext cx="5212080" cy="49834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18488"/>
            <a:ext cx="4846320" cy="3474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107C41"/>
                </a:solidFill>
              </a:defRPr>
            </a:pPr>
            <a:r>
              <a:t>Roadmap &amp; Next Steps for NVIDIA SDP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965960"/>
            <a:ext cx="48463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b="1" sz="900">
                <a:solidFill>
                  <a:srgbClr val="107C41"/>
                </a:solidFill>
              </a:rPr>
              <a:t>Phase 1: Multi-Camera Scaling (Next Deliverable):</a:t>
            </a:r>
            <a:r>
              <a:rPr sz="850">
                <a:solidFill>
                  <a:srgbClr val="334155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F172A"/>
                </a:solidFill>
              </a:rPr>
              <a:t>•  </a:t>
            </a:r>
            <a:r>
              <a:rPr sz="850">
                <a:solidFill>
                  <a:srgbClr val="334155"/>
                </a:solidFill>
              </a:rPr>
              <a:t>Scale the token caching gatekeeper across all 4 surround fisheye cameras (front, rear, left, right).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F172A"/>
                </a:solidFill>
              </a:rPr>
              <a:t>•  </a:t>
            </a:r>
            <a:r>
              <a:rPr sz="850">
                <a:solidFill>
                  <a:srgbClr val="334155"/>
                </a:solidFill>
              </a:rPr>
              <a:t>Evaluate 4-camera concurrent throughput and VRAM allocation on the RTX PRO 4000 Blackwell GPU.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107C41"/>
                </a:solidFill>
              </a:rPr>
              <a:t>Phase 2: Public Dataset Validation:</a:t>
            </a:r>
            <a:r>
              <a:rPr sz="850">
                <a:solidFill>
                  <a:srgbClr val="334155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F172A"/>
                </a:solidFill>
              </a:rPr>
              <a:t>•  </a:t>
            </a:r>
            <a:r>
              <a:rPr sz="850">
                <a:solidFill>
                  <a:srgbClr val="334155"/>
                </a:solidFill>
              </a:rPr>
              <a:t>Evaluate the 5 FPS baseline + token caching protocol on public surveillance benchmarks (MEVA, VIRAT, or CHAD).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F172A"/>
                </a:solidFill>
              </a:rPr>
              <a:t>•  </a:t>
            </a:r>
            <a:r>
              <a:rPr sz="850">
                <a:solidFill>
                  <a:srgbClr val="334155"/>
                </a:solidFill>
              </a:rPr>
              <a:t>Verify IoU matching and action classification agreement across diverse multi-scenario parking footage.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107C41"/>
                </a:solidFill>
              </a:rPr>
              <a:t>Phase 3: TensorRT Deployment &amp; Optimization:</a:t>
            </a:r>
            <a:r>
              <a:rPr sz="850">
                <a:solidFill>
                  <a:srgbClr val="334155"/>
                </a:solidFill>
              </a:rPr>
              <a:t/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F172A"/>
                </a:solidFill>
              </a:rPr>
              <a:t>•  </a:t>
            </a:r>
            <a:r>
              <a:rPr sz="850">
                <a:solidFill>
                  <a:srgbClr val="334155"/>
                </a:solidFill>
              </a:rPr>
              <a:t>Export DINOv2 sparse attention blocks and YOLO26s into TensorRT engines with FP8 / FP4 precision.</a:t>
            </a:r>
          </a:p>
          <a:p>
            <a:pPr>
              <a:spcAft>
                <a:spcPts val="200"/>
              </a:spcAft>
            </a:pPr>
            <a:r>
              <a:rPr b="1" sz="900">
                <a:solidFill>
                  <a:srgbClr val="0F172A"/>
                </a:solidFill>
              </a:rPr>
              <a:t>•  </a:t>
            </a:r>
            <a:r>
              <a:rPr sz="850">
                <a:solidFill>
                  <a:srgbClr val="334155"/>
                </a:solidFill>
              </a:rPr>
              <a:t>Benchmark end-to-end multi-stream latency against NVIDIA embedded automotive compute targets.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