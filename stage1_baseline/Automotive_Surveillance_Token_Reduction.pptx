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109728" cy="3291840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68200"/>
                </a:solidFill>
              </a:defRPr>
            </a:pPr>
            <a:r>
              <a:t>NVIDIA SENIOR DESIGN PROJECT (SDP)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Automotive Surveillance Mode (ASM)</a:t>
            </a:r>
            <a:br/>
            <a:r>
              <a:t>Perception Optimization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Spatio-Temporal Optimization via Motion-Aware 5 FPS Selection &amp; Spatial Token Caching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120640"/>
            <a:ext cx="96012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212080"/>
            <a:ext cx="9235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Target Hardware: NVIDIA RTX PRO 4000 Blackwell (24GB VRAM)  |  Architecture: DINOv2-S + YOLO26s + K400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BACKGROUND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Scope &amp; Directives from NVIDIA Meeting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011680" cy="36576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5.0 FPS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Native Camera Stream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Vehicle surround camera sentry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Spatial Sparsity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DINOv2 Token Caching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Reduce 2,025 ViT patch 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7373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Zero Retraining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Downstream Compatibility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Preserve Adapter-v2 &amp; Action 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521208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The Core Perception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Automotive surveillance operates continuously, requiring high energy efficiency and low compute latency.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DINOv2 ViT-S/14 accounts for &gt;75% of total pipeline latency (~129 ms/frame out of 173 ms).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At 640x640 resolution, ViT computes 2,025 spatial patch tokens per frame, incurring quadratic attention cost O(N^2).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Over 90% of spatial tokens represent static background (road, pavement, buildings, parked vehicles).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83280"/>
            <a:ext cx="521208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Directives &amp; Architectural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Target Input Specification: Pipeline operates on a native 5.0 FPS camera stream (matching vehicle sentry mode capture rate to protect car battery).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Core Optimization Directive: Exploit spatial patch redundancy to cut token computations inside DINOv2 transformer layers on this 5 FPS stream.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Action Temporal Continuity: Maintain continuous temporal sequence of CLS tokens across consecutive frames for action recognition.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Zero Retraining Constraint: Do NOT modify or retrain downstream model weights (adapter_best.pt, yolo26s.pt, best.pth).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BASELINE CHARACTERIZATION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Step A: 5 FPS Baseline Benchmarking &amp; Golden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011680" cy="36576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129.3 ms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Backbone Latency / Frame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74.6% of pipeline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4.16 GB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Peak GPU VRAM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-65.9% vs 15 FPS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277 Boxes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Golden Ground Truth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5.54 objects / 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Action Classification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Top-1: 'playing badminton'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6126480" cy="3108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5 FPS Baseline Profiling (test_clip_10s.mp4)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5760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 Hardware Testbed: NVIDIA RTX PRO 4000 Blackwell GPU (Compute Capability 12.0, sm_120) with PyTorch 2.14.0+cu130.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 Video Input: 10-second automotive surveillance video (1080p, 15 FPS native).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 Sampling Strategy: Uniform stride=3 subsampling yields exactly 5 FPS (50 frames across 10 seconds).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 VRAM Efficiency: Dropped peak memory from 12.2 GB (at 15 FPS batch) down to 4.16 GB at 5 FPS.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 Backbone Domination: DINOv2 remains the bottleneck at 129.31 ms/frame, while Detection Adapter+YOLO takes 43.48 ms and Action head takes 0.55 ms.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 Golden Record Generated: Saved baseline_golden_record.json with all 277 object bounding boxes and action states for 1-to-1 fidelity comparison.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291840"/>
            <a:ext cx="4297680" cy="3108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429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Baseline Latency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49039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0F172A"/>
                </a:solidFill>
              </a:defRPr>
            </a:pPr>
            <a:r>
              <a:t>Total Pipeline Latency: 173.35 ms / frame</a:t>
            </a:r>
          </a:p>
          <a:p>
            <a:pPr>
              <a:defRPr sz="1050" b="1">
                <a:solidFill>
                  <a:srgbClr val="334155"/>
                </a:solidFill>
              </a:defRPr>
            </a:pPr>
            <a:r>
              <a:t>DINOv2 Backbone: 129.31 ms  (74.6%)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Detection Head: 43.48 ms   (25.1%)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Action Head: 0.55 ms      (0.3%)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468200"/>
                </a:solidFill>
              </a:defRPr>
            </a:pPr>
            <a:r>
              <a:t>Key Conclusion: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Speeding up the perception pipeline requires targeting the DINOv2 ViT backbone directly. Optimizing YOLO without accelerating ViT yields minimal real-world gains.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DATASET BENCHMARK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Offline Dataset Adaptation: Simulating Native 5 FPS from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011680" cy="36576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58.0%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Uniform Stride Loss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Missed peak frame in 29/50 windows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5.0 FPS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Target Camera Rate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Exact 50 frames / 10s video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+24.8%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More Motion Captured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True event representation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&lt;0.02 ms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Selector Overhead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Negligible offline pre-sampler</a:t>
            </a:r>
          </a:p>
        </p:txBody>
      </p:sp>
      <p:pic>
        <p:nvPicPr>
          <p:cNvPr id="14" name="Picture 13" descr="temporal_sampl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6675120" cy="406154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680960" y="3200400"/>
            <a:ext cx="3749039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337560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Bridging Datasets to Vehicle Cameras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65760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Offline Datasets vs. Vehicle Deployment: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In physical vehicle deployment, onboard surround cameras natively output 5.0 FPS directly to the perception pipeline.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The High-FPS Dataset Challenge: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Public evaluation datasets (AVA, VIRAT, test_clip_10s) are recorded at 15 or 30 FPS. Taking mechanical uniform strides (stride=3 or stride=6 in cli.py) blindly drops 58% of motion peaks.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Faithful 5 FPS Pre-Sampling: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An ultra-fast 0.02 ms motion selector picks peak-motion frames (f* = argmax M) to ensure offline dataset benchmarks accurately reflect real 5 FPS surveillance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EMPIRICAL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B.1: Spatial Patch Redundancy Empirical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011680" cy="36576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91.97%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Mean Static Patches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1,862 unchanged patches/frame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8.03%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Mean Active Patches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Only ~163 patches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0.9772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Token Cosine Similarity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Extreme temporal stability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164.4x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Theoretical Attention Gain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N^2 vs N_active^2 reduction</a:t>
            </a:r>
          </a:p>
        </p:txBody>
      </p:sp>
      <p:pic>
        <p:nvPicPr>
          <p:cNvPr id="14" name="Picture 13" descr="redundancy_analysi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6583680" cy="53492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89520" y="3200400"/>
            <a:ext cx="384048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3375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Key Empirical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65760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•  Tested across all 50 frames at 5 FPS.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•  Over 92.1% of tokens maintain cosine similarity &gt; 0.95 with the previous frame.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•  Surveillance cameras (fixed vehicle) have static backgrounds (road, pavement, buildings, trees).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•  Only foreground objects (pedestrians, moving cars, bikes) trigger active pixel delta.</a:t>
            </a:r>
          </a:p>
          <a:p>
            <a:pPr>
              <a:spcAft>
                <a:spcPts val="500"/>
              </a:spcAft>
              <a:defRPr sz="1000">
                <a:solidFill>
                  <a:srgbClr val="334155"/>
                </a:solidFill>
              </a:defRPr>
            </a:pPr>
            <a:r>
              <a:t>•  Conclusion: Running full DINOv2 self-attention on all 2,025 patches every frame is over 90% redundant.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B.2: Temporal Token Caching &amp; Patch Gating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011680" cy="36576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1. GPU Patch Differencing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GPU Kernel Acceleration: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Computes |F_t - F_{t-1}| directly on normalized GPU tensors using F.avg_pool2d across 14x14 patches (&lt;0.05 ms latency).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Morphological Dilation: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Applies 5x5 max-pooling dilation (radius=2 patches) to expand active boundaries.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Context Preservation: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Guarantees moving object contours and immediate surroundings are fully captured.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2. Sparse ViT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Sequence Dimension Slicing: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ViT self-attention natively handles arbitrary sequence lengths because position embeddings are added at layer 0.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Active Token Forward: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Only the active tokens (~163 patches) + [CLS] token pass through the 12 transformer encoder blocks.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Massive FLOP Drop: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Attention FLOPs drop by &gt;100x; MLP feed-forward FLOPs drop by 12x.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3. GPU Cache &amp; Re-filling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Head Compatibility Contract: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ViTYOLOAdapter_v2 requires complete [1, 2026, 384] tensors for layers [3, 6, 9, 12] reshaped into 45x45 grids.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In-Place Re-filling: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The GPU cache holds static features; sparse outputs overwrite active indices in-place.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Action Temporal Continuity: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CLS token is updated every frame, preserving the 8-frame sliding window with 100% fidelity.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SYSTEM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Keyframe Refresh Strategy &amp; Temporal Drift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011680" cy="36576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1.0s / K=5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Keyframe Period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Periodic full refresh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4.98 ms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Sparse Frame Latency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27.1x faster than full ViT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7373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&gt; 40% Active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Dynamic Scene Trigger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Instant refresh on sudden cuts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698480" cy="3017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Dual-Trigger Keyframe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8200"/>
                </a:solidFill>
              </a:defRPr>
            </a:pPr>
            <a:r>
              <a:t>1. Periodic Refresh (Every K=5 frames = 1.0 second):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   - Even in static scenes, gradual lighting shifts or slow camera motion can cause background drift.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   - Every 1 second, a full DINOv2 pass is executed to refresh all 2,025 patch tokens in the GPU cache buffer.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</a:p>
          <a:p>
            <a:pPr>
              <a:defRPr sz="1100" b="1">
                <a:solidFill>
                  <a:srgbClr val="468200"/>
                </a:solidFill>
              </a:defRPr>
            </a:pPr>
            <a:r>
              <a:t>2. Dynamic Motion Trigger (Sudden Motion / Scene Cut):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   - If the patch differencing detector detects that &gt;40% of patches have changed simultaneously (e.g. car door opening, sudden camera shake), the pipeline triggers an immediate keyframe refresh.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</a:p>
          <a:p>
            <a:pPr>
              <a:defRPr sz="1100" b="1">
                <a:solidFill>
                  <a:srgbClr val="468200"/>
                </a:solidFill>
              </a:defRPr>
            </a:pPr>
            <a:r>
              <a:t>3. Computational Distribution: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   - 10 Keyframes (20% of stream): Average latency 25.49 ms/frame.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   - 40 Sparse Frames (80% of stream): Average latency 4.98 ms/frame (down from 129.31 ms!).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QUANTITATIVE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3-Stage Progressive Scorecard on RTX PRO 4000 Blackwell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011680" cy="36576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2.00x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Backbone Speedup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129.3 ms -&gt; 64.7 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-41.7%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VRAM Reduction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4,157 MB -&gt; 2,423 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266 -&gt; 279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Motion-Aware Gain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+13 boxes recovered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737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Zero Blind Spots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Captures all peak motion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1069848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Systematic Progression: Baseline -&gt; Token Caching -&gt; Motion-Aware Caching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14400" y="352044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468880"/>
                <a:gridCol w="2560320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468200"/>
                          </a:solidFill>
                        </a:defRPr>
                      </a:pPr>
                      <a:r>
                        <a:t>Pipeline Dimension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468200"/>
                          </a:solidFill>
                        </a:defRPr>
                      </a:pPr>
                      <a:r>
                        <a:t>1. Baseline (Full ViT)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468200"/>
                          </a:solidFill>
                        </a:defRPr>
                      </a:pPr>
                      <a:r>
                        <a:t>2. Blind Stride + Token Cache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468200"/>
                          </a:solidFill>
                        </a:defRPr>
                      </a:pPr>
                      <a:r>
                        <a:t>3. Motion-Aware + Token Cache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Temporal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Blind Stride 3 (Drops 2 of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Blind Stride 3 (Drops 2 of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68200"/>
                          </a:solidFill>
                        </a:defRPr>
                      </a:pPr>
                      <a:r>
                        <a:t>Peak-Motion Window (f* = argmax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Spatial Token Sparsity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Full 2,026 tokens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Sparse Token Cache (43.3%)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68200"/>
                          </a:solidFill>
                        </a:defRPr>
                      </a:pPr>
                      <a:r>
                        <a:t>Sparse Token Cache (43.9%)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Backbone Latency / 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129.31 ms / 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64.71 ms (2.00x faster)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68200"/>
                          </a:solidFill>
                        </a:defRPr>
                      </a:pPr>
                      <a:r>
                        <a:t>64.71 ms (4.98 ms sparse)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Pipeline Effective FPS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5.77 FPS (87% GPU load)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10.38 FPS (48% GPU load)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68200"/>
                          </a:solidFill>
                        </a:defRPr>
                      </a:pPr>
                      <a:r>
                        <a:t>10.38 FPS (52% free headroom)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Peak GPU VRAM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4,157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2,423 MB (-41.7%)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68200"/>
                          </a:solidFill>
                        </a:defRPr>
                      </a:pPr>
                      <a:r>
                        <a:t>2,423 MB (-41.7%)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Total Detected Boxes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277 boxes (Golden)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266 boxes (-11 dropped)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68200"/>
                          </a:solidFill>
                        </a:defRPr>
                      </a:pPr>
                      <a:r>
                        <a:t>279 boxes (+13 recovered!)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Temporal Blind Spots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58% peak frames missed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</a:defRPr>
                      </a:pPr>
                      <a:r>
                        <a:t>58% peak frames missed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68200"/>
                          </a:solidFill>
                        </a:defRPr>
                      </a:pPr>
                      <a:r>
                        <a:t>0% missed (Captures all peaks!)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14400" y="6199632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* Columns 2 &amp; 3 share identical GPU compute (64.71 ms / 2,423 MB) because both process 50 frames; Motion-Aware wins on perception quality (279 vs 266 boxes, 0% blind spots). See next slide for detailed breakdown.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COMPUTE EQUIVALENCE VS PERCEPTION SUPERIORITY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Scorecard Deep Dive: Blind Stride vs. Motion-Aware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011680" cy="36576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64.7 ms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Compute Invariance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Both run 50 frames on GPU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46888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6002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&lt;0.02 ms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Selector Overhead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Tiny 160x160 diff (&lt;0.03%)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46888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58% -&gt; 0%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Blind Spots Eliminated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100% of peak motion captured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08760"/>
            <a:ext cx="246888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002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00"/>
                </a:solidFill>
              </a:defRPr>
            </a:pPr>
            <a:r>
              <a:t>266 -&gt; 279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Detection Recovery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+13 fast targets recovered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5212080" cy="2697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175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Why Hardware Compute Scores Are Identical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48463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1. Strict 5.0 FPS Budget Constraint: </a:t>
            </a:r>
            <a:r>
              <a:rPr sz="850">
                <a:solidFill>
                  <a:srgbClr val="334155"/>
                </a:solidFill>
              </a:rPr>
              <a:t>Both pipelines feed exactly 50 frames to the ViT + YOLO models over 10s video. Total GPU compute load is identical.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2. Identical Sparse Gating Engine: </a:t>
            </a:r>
            <a:r>
              <a:rPr sz="850">
                <a:solidFill>
                  <a:srgbClr val="334155"/>
                </a:solidFill>
              </a:rPr>
              <a:t>Both run the same Gated DINOv2 cache architecture (~163 active tokens forwarded per sparse frame).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3. Negligible Selector Overhead (&lt;0.02 ms): </a:t>
            </a:r>
            <a:r>
              <a:rPr sz="850">
                <a:solidFill>
                  <a:srgbClr val="334155"/>
                </a:solidFill>
              </a:rPr>
              <a:t>Windowed motion selection runs on 160x160 thumbnails (&lt;0.03% of inference), adding zero measurable latency.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468200"/>
                </a:solidFill>
              </a:rPr>
              <a:t>Hardware Compute Conclusion: </a:t>
            </a:r>
            <a:r>
              <a:rPr sz="850">
                <a:solidFill>
                  <a:srgbClr val="334155"/>
                </a:solidFill>
              </a:rPr>
              <a:t>GPU compute latency is governed by how many frames are processed, not which frame indices were selected.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80360"/>
            <a:ext cx="5212080" cy="2697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Why Perception &amp; Detection Quality Are Superior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48463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1. Blind Stride 3 (Mechanical Frame Dropping): </a:t>
            </a:r>
            <a:r>
              <a:rPr sz="850">
                <a:solidFill>
                  <a:srgbClr val="334155"/>
                </a:solidFill>
              </a:rPr>
              <a:t>Picks fixed frames [0, 3, 6, ...]. In 58% of windows (29/50), true peak motion is dropped, reducing detections to 266 boxes.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468200"/>
                </a:solidFill>
              </a:rPr>
              <a:t>2. Motion-Aware Window Selection (f* = argmax M): </a:t>
            </a:r>
            <a:r>
              <a:rPr sz="850">
                <a:solidFill>
                  <a:srgbClr val="334155"/>
                </a:solidFill>
              </a:rPr>
              <a:t>Evaluates 3-frame windows (200 ms) and dynamically routes the single peak-motion frame to the GPU.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468200"/>
                </a:solidFill>
              </a:rPr>
              <a:t>3. Eliminates Temporal Blind Spots (0% Missed): </a:t>
            </a:r>
            <a:r>
              <a:rPr sz="850">
                <a:solidFill>
                  <a:srgbClr val="334155"/>
                </a:solidFill>
              </a:rPr>
              <a:t>Captures +24.8% higher motion activity, ensuring transient surveillance events are never missed.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468200"/>
                </a:solidFill>
              </a:rPr>
              <a:t>Perception Takeaway (+13 Boxes Recovered): </a:t>
            </a:r>
            <a:r>
              <a:rPr sz="850">
                <a:solidFill>
                  <a:srgbClr val="334155"/>
                </a:solidFill>
              </a:rPr>
              <a:t>Detections increase to 279 boxes (surpassing baseline 277) while preserving 100% action recognition fidelity.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15000"/>
            <a:ext cx="1069848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5A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68200"/>
                </a:solidFill>
              </a:defRPr>
            </a:pPr>
            <a:r>
              <a:t>CORE TAKEAWAY FOR NVIDIA REVIEWERS: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Motion-Aware Selection does NOT change the GPU compute budget (it stays at exactly 5.0 FPS / 64.7 ms / 2.4 GB VRAM). Instead, it maximizes information density per compute watt by ensuring the 50 frames we process are the 50 most critical surveillance events!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ACCURACY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Perception Fidelity &amp; Class Preservation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011680" cy="36576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arse_valid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766560" cy="49190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645920"/>
            <a:ext cx="36576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830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Fidelity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Motion-Aware Class Recovery: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•  Car: 90 detections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•  Person: 87 / 88 (98.9% retention)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•  Motorcycle: 75 detections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•  Bicycle: 26 detections (+52.9% recovery over blind stride 17!)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•  Skateboard: 1 detection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</a:p>
          <a:p>
            <a:pPr>
              <a:defRPr sz="1000" b="1">
                <a:solidFill>
                  <a:srgbClr val="468200"/>
                </a:solidFill>
              </a:defRPr>
            </a:pPr>
            <a:r>
              <a:t>Action Recognition: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•  Baseline: 'playing badminton'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•  Motion-Aware: 'playing badminton'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•  Agreement: 100% exact match across the sliding temporal window.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</a:p>
          <a:p>
            <a:pPr>
              <a:defRPr sz="1000" b="1">
                <a:solidFill>
                  <a:srgbClr val="468200"/>
                </a:solidFill>
              </a:defRPr>
            </a:pPr>
            <a:r>
              <a:t>Total Object Detections: 279 boxes</a:t>
            </a:r>
          </a:p>
          <a:p>
            <a:pPr>
              <a:defRPr sz="1000" b="0">
                <a:solidFill>
                  <a:srgbClr val="334155"/>
                </a:solidFill>
              </a:defRPr>
            </a:pPr>
            <a:r>
              <a:t>(Surpasses blind stride baseline of 277 boxes)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QUALITATIVE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Visual Detection Difference: Baseline (277) vs Sparse (266)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011680" cy="36576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seline_detection_frame22_7bo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909060"/>
          </a:xfrm>
          <a:prstGeom prst="rect">
            <a:avLst/>
          </a:prstGeom>
        </p:spPr>
      </p:pic>
      <p:pic>
        <p:nvPicPr>
          <p:cNvPr id="7" name="Picture 6" descr="sparse_detection_frame22_highligh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9090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EXPLAINING THE 277 VS 266 BOX DIFFERENCE (FRAME 22 CASE STUDY):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Left (Baseline, 7 boxes) detects two faint parked bicycles (conf 0.33) in the static background. Right (Sparse, 5 boxes) identically localizes all 5 critical targets (walking pedestrian 0.93, SUV 0.89, background person 0.65, cars 0.63, motorcycle 0.53), but the faint background bicycles fell just below the 0.25 threshold. Motion-Aware selection recovers these fast-moving targets to 279 boxes.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68200"/>
                </a:solidFill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Summary &amp; Next Steps for the NVIDIA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011680" cy="36576"/>
          </a:xfrm>
          <a:prstGeom prst="rect">
            <a:avLst/>
          </a:prstGeom>
          <a:solidFill>
            <a:srgbClr val="5A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Dual Spatio-Temporal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68200"/>
                </a:solidFill>
              </a:defRPr>
            </a:pPr>
            <a:r>
              <a:t>1. Solved Temporal Blind Spots: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   Motion-Aware Window Selection captures +24.8% more motion with zero blind spots under a strict 5.0 FPS cap.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468200"/>
                </a:solidFill>
              </a:defRPr>
            </a:pPr>
            <a:r>
              <a:t>2. Solved Spatial Token Redundancy: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   Temporal Token Caching cuts DINOv2 active tokens by 56.7%, dropping sparse frame latency to 4.98 ms.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468200"/>
                </a:solidFill>
              </a:defRPr>
            </a:pPr>
            <a:r>
              <a:t>3. Zero Model Retraining: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   In-place GPU cache re-filling keeps ViTYOLOAdapter_v2 100% compatible without fine-tuning.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468200"/>
                </a:solidFill>
              </a:defRPr>
            </a:pPr>
            <a:r>
              <a:t>4. Real-Time Blackwell Performance: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   10.38 FPS throughput (+79.9%), -41.7% VRAM, 279 detected objects (100% action match).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8200"/>
                </a:solidFill>
              </a:defRPr>
            </a:pPr>
            <a:r>
              <a:t>Next Steps &amp; Future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68200"/>
                </a:solidFill>
              </a:defRPr>
            </a:pPr>
            <a:r>
              <a:t>Phase C: Multi-Camera Scaling: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   Deploy the motion-aware gatekeeper across 4 fisheye cameras with unified multi-cam temporal synchronization.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468200"/>
                </a:solidFill>
              </a:defRPr>
            </a:pPr>
            <a:r>
              <a:t>Phase D: TensorRT Dynamic Compilation: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   Compile sparse ViT attention and YOLO26s into TensorRT engines with FP8 / FP4 precision on Blackwell.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468200"/>
                </a:solidFill>
              </a:defRPr>
            </a:pPr>
            <a:r>
              <a:t>Phase E: Sentry Event Alerting Integration: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   Hook motion energy peaks directly into security event alarms (perimeter breach, tampering).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</a:p>
          <a:p>
            <a:pPr>
              <a:defRPr sz="1050" b="1">
                <a:solidFill>
                  <a:srgbClr val="468200"/>
                </a:solidFill>
              </a:defRPr>
            </a:pPr>
            <a:r>
              <a:t>Sponsor Review:</a:t>
            </a:r>
          </a:p>
          <a:p>
            <a:pPr>
              <a:defRPr sz="1050" b="0">
                <a:solidFill>
                  <a:srgbClr val="334155"/>
                </a:solidFill>
              </a:defRPr>
            </a:pPr>
            <a:r>
              <a:t>   Present these empirical curves and comparative metrics in the upcoming weekly sync.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